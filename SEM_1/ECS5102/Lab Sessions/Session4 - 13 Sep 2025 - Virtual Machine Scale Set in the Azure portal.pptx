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3"/>
  </p:notesMasterIdLst>
  <p:sldIdLst>
    <p:sldId id="266" r:id="rId5"/>
    <p:sldId id="270" r:id="rId6"/>
    <p:sldId id="275" r:id="rId7"/>
    <p:sldId id="294" r:id="rId8"/>
    <p:sldId id="287" r:id="rId9"/>
    <p:sldId id="292" r:id="rId10"/>
    <p:sldId id="285" r:id="rId11"/>
    <p:sldId id="28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583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15086-06BC-4F78-B508-4E1F94CCB86B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4AFE6-52F8-436F-9DAC-607E2BE5A9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631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AFE6-52F8-436F-9DAC-607E2BE5A99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096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AFE6-52F8-436F-9DAC-607E2BE5A99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863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971FF-AE78-7306-6C3F-4D8C0E04F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1C643-1ABC-8064-EBB8-6A7903331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92F98-FEA6-0E92-0693-07BBC487A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7D3AC-A1FF-CF0E-0C8B-D9DEA8099F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AFE6-52F8-436F-9DAC-607E2BE5A99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25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AFE6-52F8-436F-9DAC-607E2BE5A99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45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AFE6-52F8-436F-9DAC-607E2BE5A99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986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AFE6-52F8-436F-9DAC-607E2BE5A99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255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AFE6-52F8-436F-9DAC-607E2BE5A99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789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C1DA85BB-8327-437A-900F-6A3DB7A5ABC9}" type="datetime1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B86FA0BC-E7BB-4D55-8710-E8474A66771E}" type="datetime1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5958A1C5-682A-4617-9A91-5759A79A935B}" type="datetime1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F2EFD0D0-99D2-4A10-AC62-6E2E6CF7A9EE}" type="datetime1">
              <a:rPr lang="en-US" smtClean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08F7DEDF-EB2B-4F7F-B2DF-97C28C8FCBC9}" type="datetime1">
              <a:rPr lang="en-US" smtClean="0"/>
              <a:t>9/12/2025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EB780351-56D7-412F-9F2E-17819DF3B01D}" type="datetime1">
              <a:rPr lang="en-US" smtClean="0"/>
              <a:t>9/12/2025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978F068B-C601-4124-944A-AED7D3FD7517}" type="datetime1">
              <a:rPr lang="en-US" smtClean="0"/>
              <a:t>9/12/2025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D46F7A73-7818-460B-8F62-87CD8A1DAD1A}" type="datetime1">
              <a:rPr lang="en-US" smtClean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A6CF8665-A302-4073-9097-DCE6BA8A5D14}" type="datetime1">
              <a:rPr lang="en-US" smtClean="0"/>
              <a:t>9/12/2025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6973878A-9A6C-446F-AE2D-FA0E8037C59B}" type="datetime1">
              <a:rPr lang="en-US" smtClean="0"/>
              <a:t>9/12/2025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BFCC5687-D9F1-45E2-A621-A964456C9C51}" type="datetime1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7AD05D98-6779-42E9-AA36-C6D6C2CA339B}" type="datetime1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65414117-4E55-454A-B008-5B316A3C4A1E}" type="datetime1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6D685336-EDD6-4B11-BDCB-D9716D9D0CAD}" type="datetime1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FD90B30B-3EA6-4689-8E7C-D798375DFD60}" type="datetime1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B7C5E6C6-E680-4C09-9A82-6D6D4A458B45}" type="datetime1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/>
          <a:lstStyle/>
          <a:p>
            <a:fld id="{EBF7BBFA-E374-465F-B18D-F6CE71921593}" type="datetime1">
              <a:rPr lang="en-US" smtClean="0"/>
              <a:t>9/12/2025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D3E5A3-061F-46EF-1A09-ADFBD12D6D10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0357945" y="5108649"/>
            <a:ext cx="1611809" cy="1615472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A675F33-98AF-4B83-A3BB-0780A2314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D85834-55D9-470E-9834-623384F24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9418" b="6313"/>
          <a:stretch/>
        </p:blipFill>
        <p:spPr>
          <a:xfrm>
            <a:off x="-3175" y="10"/>
            <a:ext cx="12192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812CC5-3F64-4837-AE94-66C400A32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9121940" cy="2971801"/>
          </a:xfrm>
        </p:spPr>
        <p:txBody>
          <a:bodyPr>
            <a:normAutofit/>
          </a:bodyPr>
          <a:lstStyle/>
          <a:p>
            <a:r>
              <a:rPr lang="en-US" dirty="0"/>
              <a:t>Virtual machine scale sets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012D5-B732-49FA-8D2C-A5C52B3641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1" y="3843867"/>
            <a:ext cx="11504613" cy="550771"/>
          </a:xfrm>
        </p:spPr>
        <p:txBody>
          <a:bodyPr anchor="ctr" anchorCtr="0"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Automatic scaling of Virtual Machines in Azure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552D40-7EA1-A355-AB48-262A7D29E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237" y="5667702"/>
            <a:ext cx="1187588" cy="119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3100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F4E830A-06F9-4EAA-9E65-110CF2421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E0AEC80-8115-4F41-B41A-43D500026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t="9418" b="6313"/>
          <a:stretch/>
        </p:blipFill>
        <p:spPr>
          <a:xfrm>
            <a:off x="3174" y="10"/>
            <a:ext cx="12192000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048AD-5F12-4F20-8B94-DCE98507F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3615267"/>
          </a:xfrm>
        </p:spPr>
        <p:txBody>
          <a:bodyPr>
            <a:normAutofit/>
          </a:bodyPr>
          <a:lstStyle/>
          <a:p>
            <a:pPr>
              <a:buSzPct val="70000"/>
              <a:buFont typeface="Century Gothic" panose="020B0502020202020204" pitchFamily="34" charset="0"/>
              <a:buChar char="►"/>
            </a:pPr>
            <a:r>
              <a:rPr lang="en-US" sz="2400" dirty="0">
                <a:solidFill>
                  <a:schemeClr val="tx1"/>
                </a:solidFill>
              </a:rPr>
              <a:t>Definition</a:t>
            </a:r>
          </a:p>
          <a:p>
            <a:pPr>
              <a:buSzPct val="70000"/>
              <a:buFont typeface="Century Gothic" panose="020B0502020202020204" pitchFamily="34" charset="0"/>
              <a:buChar char="►"/>
            </a:pPr>
            <a:r>
              <a:rPr lang="en-US" sz="2400" dirty="0">
                <a:solidFill>
                  <a:schemeClr val="tx1"/>
                </a:solidFill>
              </a:rPr>
              <a:t>Application of VMSS</a:t>
            </a:r>
          </a:p>
          <a:p>
            <a:pPr>
              <a:buSzPct val="70000"/>
              <a:buFont typeface="Century Gothic" panose="020B0502020202020204" pitchFamily="34" charset="0"/>
              <a:buChar char="►"/>
            </a:pPr>
            <a:r>
              <a:rPr lang="en-US" sz="2400" dirty="0">
                <a:solidFill>
                  <a:schemeClr val="tx1"/>
                </a:solidFill>
              </a:rPr>
              <a:t>Why VMSS</a:t>
            </a:r>
          </a:p>
          <a:p>
            <a:pPr>
              <a:buSzPct val="70000"/>
              <a:buFont typeface="Century Gothic" panose="020B0502020202020204" pitchFamily="34" charset="0"/>
              <a:buChar char="►"/>
            </a:pPr>
            <a:r>
              <a:rPr lang="en-US" sz="2400" dirty="0">
                <a:solidFill>
                  <a:schemeClr val="tx1"/>
                </a:solidFill>
              </a:rPr>
              <a:t>Architecture</a:t>
            </a:r>
          </a:p>
          <a:p>
            <a:pPr>
              <a:buSzPct val="70000"/>
              <a:buFont typeface="Century Gothic" panose="020B0502020202020204" pitchFamily="34" charset="0"/>
              <a:buChar char="►"/>
            </a:pPr>
            <a:r>
              <a:rPr lang="en-US" sz="2400" dirty="0">
                <a:solidFill>
                  <a:schemeClr val="tx1"/>
                </a:solidFill>
              </a:rPr>
              <a:t>How it works</a:t>
            </a:r>
          </a:p>
          <a:p>
            <a:pPr>
              <a:buSzPct val="70000"/>
              <a:buFont typeface="Century Gothic" panose="020B0502020202020204" pitchFamily="34" charset="0"/>
              <a:buChar char="►"/>
            </a:pPr>
            <a:r>
              <a:rPr lang="en-US" sz="2400" dirty="0">
                <a:solidFill>
                  <a:schemeClr val="tx1"/>
                </a:solidFill>
              </a:rPr>
              <a:t>Benefits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F4020B-BD58-413B-9283-2C8C1ABAB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D708CA-8825-A2C1-8C26-82632986B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1237" y="5667702"/>
            <a:ext cx="1187588" cy="11902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1C726C-D8F3-9795-5AEB-97266FAA82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5283" y="685800"/>
            <a:ext cx="3855065" cy="384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588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F4E830A-06F9-4EAA-9E65-110CF2421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E0AEC80-8115-4F41-B41A-43D500026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t="9418" b="6313"/>
          <a:stretch/>
        </p:blipFill>
        <p:spPr>
          <a:xfrm>
            <a:off x="3174" y="10"/>
            <a:ext cx="12192000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048AD-5F12-4F20-8B94-DCE98507F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38" y="697624"/>
            <a:ext cx="8064062" cy="5135617"/>
          </a:xfrm>
        </p:spPr>
        <p:txBody>
          <a:bodyPr>
            <a:normAutofit/>
          </a:bodyPr>
          <a:lstStyle/>
          <a:p>
            <a:pPr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A feature in Azure that enables the deployment and management of a group of identical Virtual Machines</a:t>
            </a:r>
          </a:p>
          <a:p>
            <a:pPr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Offers high availability for applications and allows for seamless scaling (Up to 1000 Virtual Machines) in a region or within an Availability Zone</a:t>
            </a:r>
          </a:p>
          <a:p>
            <a:pPr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Virtual Machines can be added or removed automatically based on demand or a set schedule</a:t>
            </a:r>
          </a:p>
          <a:p>
            <a:pPr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A great choice for workloads that require rapid scaling</a:t>
            </a:r>
          </a:p>
          <a:p>
            <a:pPr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Beneficial for applications that have varying levels of traffic or require consistent performance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F4020B-BD58-413B-9283-2C8C1ABAB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943590"/>
            <a:ext cx="8534400" cy="914399"/>
          </a:xfrm>
        </p:spPr>
        <p:txBody>
          <a:bodyPr anchor="ctr" anchorCtr="0">
            <a:normAutofit/>
          </a:bodyPr>
          <a:lstStyle/>
          <a:p>
            <a:r>
              <a:rPr lang="en-US" dirty="0"/>
              <a:t>definition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D708CA-8825-A2C1-8C26-82632986B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1237" y="5667702"/>
            <a:ext cx="1187588" cy="11902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3B0316-0555-9D7B-3A71-9CF9819F34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3619" y="2243954"/>
            <a:ext cx="3398783" cy="182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012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45BD907C-547A-0AE6-DE90-CC4AA12A2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3F19568-F5DE-68C8-B4AF-C822AA4FB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513242-DE23-DE01-543E-85377B02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t="9418" b="6313"/>
          <a:stretch/>
        </p:blipFill>
        <p:spPr>
          <a:xfrm>
            <a:off x="3174" y="10"/>
            <a:ext cx="12192000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27CE3-9C9C-B5CE-8023-FC7EE3A40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38" y="697624"/>
            <a:ext cx="8064062" cy="5135617"/>
          </a:xfrm>
        </p:spPr>
        <p:txBody>
          <a:bodyPr>
            <a:normAutofit/>
          </a:bodyPr>
          <a:lstStyle/>
          <a:p>
            <a:pPr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Provides a unified experience across the Azure VM ecosystem</a:t>
            </a:r>
          </a:p>
          <a:p>
            <a:pPr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With Flexible orchestration, while remaining fault domain isolation, it scales out the application for </a:t>
            </a:r>
          </a:p>
          <a:p>
            <a:pPr lvl="1"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Quorum-based workloads</a:t>
            </a:r>
          </a:p>
          <a:p>
            <a:pPr lvl="1"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Open-source databases</a:t>
            </a:r>
          </a:p>
          <a:p>
            <a:pPr lvl="1"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Stateful applications</a:t>
            </a:r>
          </a:p>
          <a:p>
            <a:pPr lvl="1"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Services that require high availability and large scale</a:t>
            </a:r>
          </a:p>
          <a:p>
            <a:pPr lvl="1"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Services that want to mix virtual machine types or leverage Spot and on-demand VMs together</a:t>
            </a:r>
          </a:p>
          <a:p>
            <a:pPr lvl="1"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Existing Availability Set applications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D08BC2-7F11-67D1-5FC7-DC4875BA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943590"/>
            <a:ext cx="8534400" cy="914399"/>
          </a:xfrm>
        </p:spPr>
        <p:txBody>
          <a:bodyPr anchor="ctr" anchorCtr="0">
            <a:normAutofit/>
          </a:bodyPr>
          <a:lstStyle/>
          <a:p>
            <a:r>
              <a:rPr lang="en-US" dirty="0"/>
              <a:t>Application of vms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855C8A-9920-796E-1383-F397C23A1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1237" y="5667702"/>
            <a:ext cx="1187588" cy="11902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C845B2-950B-1F46-FAF8-766DF1735E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1895" y="1687732"/>
            <a:ext cx="3200334" cy="315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9769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F4E830A-06F9-4EAA-9E65-110CF2421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F4020B-BD58-413B-9283-2C8C1ABAB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943590"/>
            <a:ext cx="8534400" cy="914399"/>
          </a:xfrm>
        </p:spPr>
        <p:txBody>
          <a:bodyPr anchor="ctr" anchorCtr="0">
            <a:normAutofit/>
          </a:bodyPr>
          <a:lstStyle/>
          <a:p>
            <a:r>
              <a:rPr lang="en-US" dirty="0"/>
              <a:t>Architecture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D708CA-8825-A2C1-8C26-82632986B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237" y="5667702"/>
            <a:ext cx="1187588" cy="11902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07A8A8-7264-07A1-3B0D-CB38236FF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850" y="194127"/>
            <a:ext cx="9441998" cy="5784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377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F4E830A-06F9-4EAA-9E65-110CF2421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E0AEC80-8115-4F41-B41A-43D500026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t="9418" b="6313"/>
          <a:stretch/>
        </p:blipFill>
        <p:spPr>
          <a:xfrm>
            <a:off x="3174" y="10"/>
            <a:ext cx="12192000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048AD-5F12-4F20-8B94-DCE98507F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38" y="697624"/>
            <a:ext cx="4390696" cy="5135617"/>
          </a:xfrm>
        </p:spPr>
        <p:txBody>
          <a:bodyPr>
            <a:normAutofit/>
          </a:bodyPr>
          <a:lstStyle/>
          <a:p>
            <a:pPr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Scalability</a:t>
            </a:r>
          </a:p>
          <a:p>
            <a:pPr lvl="1"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Vertical</a:t>
            </a:r>
          </a:p>
          <a:p>
            <a:pPr lvl="1"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Horizontal</a:t>
            </a:r>
          </a:p>
          <a:p>
            <a:pPr lvl="1"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Auto scale</a:t>
            </a:r>
          </a:p>
          <a:p>
            <a:pPr lvl="1"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Scalable architecture</a:t>
            </a:r>
          </a:p>
          <a:p>
            <a:pPr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High Availability</a:t>
            </a:r>
          </a:p>
          <a:p>
            <a:pPr lvl="1"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Distribute traffic</a:t>
            </a:r>
          </a:p>
          <a:p>
            <a:pPr lvl="1"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Resilience &amp; fault tolerance</a:t>
            </a:r>
          </a:p>
          <a:p>
            <a:pPr lvl="1"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Variable Workloads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F4020B-BD58-413B-9283-2C8C1ABAB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943590"/>
            <a:ext cx="8534400" cy="914399"/>
          </a:xfrm>
        </p:spPr>
        <p:txBody>
          <a:bodyPr anchor="ctr" anchorCtr="0">
            <a:normAutofit/>
          </a:bodyPr>
          <a:lstStyle/>
          <a:p>
            <a:r>
              <a:rPr lang="en-US" dirty="0"/>
              <a:t>Benefits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D708CA-8825-A2C1-8C26-82632986B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1237" y="5667702"/>
            <a:ext cx="1187588" cy="119028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F5E5FB-ABF7-4DA7-5574-1B2447CC3F2A}"/>
              </a:ext>
            </a:extLst>
          </p:cNvPr>
          <p:cNvSpPr txBox="1">
            <a:spLocks/>
          </p:cNvSpPr>
          <p:nvPr/>
        </p:nvSpPr>
        <p:spPr>
          <a:xfrm>
            <a:off x="5605956" y="861191"/>
            <a:ext cx="4390696" cy="51356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Cost-Effectiveness</a:t>
            </a:r>
          </a:p>
          <a:p>
            <a:pPr lvl="1"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Optimize compute resources</a:t>
            </a:r>
          </a:p>
          <a:p>
            <a:pPr lvl="1"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Adjust computational power</a:t>
            </a:r>
          </a:p>
          <a:p>
            <a:pPr lvl="1"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Load-balancing</a:t>
            </a:r>
          </a:p>
          <a:p>
            <a:pPr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Easy Management</a:t>
            </a:r>
          </a:p>
          <a:p>
            <a:pPr lvl="1"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Utilize Azure services</a:t>
            </a:r>
          </a:p>
          <a:p>
            <a:pPr lvl="1"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Implement load balancing</a:t>
            </a:r>
          </a:p>
          <a:p>
            <a:pPr lvl="1" algn="just">
              <a:buSzPct val="700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Pre-defined rules</a:t>
            </a:r>
          </a:p>
        </p:txBody>
      </p:sp>
    </p:spTree>
    <p:extLst>
      <p:ext uri="{BB962C8B-B14F-4D97-AF65-F5344CB8AC3E}">
        <p14:creationId xmlns:p14="http://schemas.microsoft.com/office/powerpoint/2010/main" val="3183129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FD48FB1-66D8-4676-B0AA-C139A1DB7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033F5AE-6728-4F19-8DED-658E674B3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2C7D74A-18BA-4709-A808-44E8815C4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5164A3F-1561-4039-8185-AB0EEB713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A35DB53-42BE-460E-9CA1-1294C9846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511F85B-5967-428B-BE8B-819A79813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E0AEC80-8115-4F41-B41A-43D500026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grayscl/>
          </a:blip>
          <a:srcRect t="9418" b="631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3" name="Snip Diagonal Corner Rectangle 6">
            <a:extLst>
              <a:ext uri="{FF2B5EF4-FFF2-40B4-BE49-F238E27FC236}">
                <a16:creationId xmlns:a16="http://schemas.microsoft.com/office/drawing/2014/main" id="{28DA8D05-CF65-4382-8BF4-2A08754DB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1075" cy="6857998"/>
          </a:xfrm>
          <a:prstGeom prst="snip2DiagRect">
            <a:avLst>
              <a:gd name="adj1" fmla="val 0"/>
              <a:gd name="adj2" fmla="val 42414"/>
            </a:avLst>
          </a:prstGeom>
          <a:gradFill>
            <a:gsLst>
              <a:gs pos="2000">
                <a:schemeClr val="dk2">
                  <a:tint val="97000"/>
                  <a:hueMod val="92000"/>
                  <a:satMod val="169000"/>
                  <a:lumMod val="164000"/>
                  <a:alpha val="79000"/>
                </a:schemeClr>
              </a:gs>
              <a:gs pos="100000">
                <a:schemeClr val="dk2">
                  <a:shade val="96000"/>
                  <a:satMod val="120000"/>
                  <a:lumMod val="90000"/>
                  <a:alpha val="88000"/>
                </a:schemeClr>
              </a:gs>
            </a:gsLst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F4020B-BD58-413B-9283-2C8C1ABAB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310" y="895481"/>
            <a:ext cx="5799942" cy="3126581"/>
          </a:xfr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vert="horz" lIns="182880" tIns="91440" rIns="182880" bIns="91440" rtlCol="0" anchor="ctr" anchorCtr="0"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cap="small" dirty="0"/>
              <a:t>Demonstration</a:t>
            </a:r>
            <a:br>
              <a:rPr lang="en-US" sz="3600" cap="small" dirty="0"/>
            </a:br>
            <a:br>
              <a:rPr lang="en-US" sz="3600" cap="small" dirty="0"/>
            </a:br>
            <a:r>
              <a:rPr lang="en-US" sz="2400" cap="none" dirty="0">
                <a:latin typeface="Aptos Narrow" panose="020B0004020202020204" pitchFamily="34" charset="0"/>
              </a:rPr>
              <a:t>VMSS Creation</a:t>
            </a:r>
            <a:br>
              <a:rPr lang="en-US" sz="2400" cap="none" dirty="0">
                <a:latin typeface="Aptos Narrow" panose="020B0004020202020204" pitchFamily="34" charset="0"/>
              </a:rPr>
            </a:br>
            <a:r>
              <a:rPr lang="en-US" sz="2400" cap="none" dirty="0">
                <a:latin typeface="Aptos Narrow" panose="020B0004020202020204" pitchFamily="34" charset="0"/>
              </a:rPr>
              <a:t>Create a rule to automatically scale out</a:t>
            </a:r>
            <a:br>
              <a:rPr lang="en-US" sz="2400" cap="none" dirty="0">
                <a:latin typeface="Aptos Narrow" panose="020B0004020202020204" pitchFamily="34" charset="0"/>
              </a:rPr>
            </a:br>
            <a:r>
              <a:rPr lang="en-US" sz="2400" cap="none" dirty="0">
                <a:latin typeface="Aptos Narrow" panose="020B0004020202020204" pitchFamily="34" charset="0"/>
              </a:rPr>
              <a:t>Create a rule to automatically scale in</a:t>
            </a:r>
            <a:br>
              <a:rPr lang="en-US" sz="2400" cap="none" dirty="0">
                <a:latin typeface="Aptos Narrow" panose="020B0004020202020204" pitchFamily="34" charset="0"/>
              </a:rPr>
            </a:br>
            <a:r>
              <a:rPr lang="en-US" sz="2400" cap="none" dirty="0">
                <a:latin typeface="Aptos Narrow" panose="020B0004020202020204" pitchFamily="34" charset="0"/>
              </a:rPr>
              <a:t>Define auto scale instance limits</a:t>
            </a:r>
            <a:br>
              <a:rPr lang="en-US" sz="2400" cap="none" dirty="0">
                <a:latin typeface="Aptos Narrow" panose="020B0004020202020204" pitchFamily="34" charset="0"/>
              </a:rPr>
            </a:br>
            <a:r>
              <a:rPr lang="en-US" sz="2400" cap="none" dirty="0">
                <a:latin typeface="Aptos Narrow" panose="020B0004020202020204" pitchFamily="34" charset="0"/>
              </a:rPr>
              <a:t>Monitor number of instances in a scale set</a:t>
            </a:r>
            <a:br>
              <a:rPr lang="en-US" sz="2400" cap="none" dirty="0">
                <a:latin typeface="Aptos Narrow" panose="020B0004020202020204" pitchFamily="34" charset="0"/>
              </a:rPr>
            </a:br>
            <a:r>
              <a:rPr lang="en-US" sz="2400" cap="none" dirty="0">
                <a:latin typeface="Aptos Narrow" panose="020B0004020202020204" pitchFamily="34" charset="0"/>
              </a:rPr>
              <a:t>Auto scale based on a schedule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0C6252F-9468-4CFE-8A28-0DFE703FB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11344" y="9144"/>
            <a:ext cx="6080656" cy="6163733"/>
            <a:chOff x="6108170" y="8467"/>
            <a:chExt cx="6080656" cy="6163733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873F8F7-6FEE-4BB3-94A3-78B5C2FF1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8228012" y="8467"/>
              <a:ext cx="3810000" cy="381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F5B2264-1E71-4A5B-ABFC-2832FD78E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108170" y="91545"/>
              <a:ext cx="6080655" cy="60806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6E0A76D-9460-46B8-BD58-9E9BF9CEB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235825" y="228600"/>
              <a:ext cx="4953000" cy="4953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7E3790F-67C5-42CD-B933-75C6F3250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335837" y="32278"/>
              <a:ext cx="4852989" cy="485298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EF3C2C4-F6BB-4D14-8577-3649162D0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845426" y="609601"/>
              <a:ext cx="4343399" cy="434339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91513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FD48FB1-66D8-4676-B0AA-C139A1DB7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033F5AE-6728-4F19-8DED-658E674B3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2C7D74A-18BA-4709-A808-44E8815C4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5164A3F-1561-4039-8185-AB0EEB713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A35DB53-42BE-460E-9CA1-1294C9846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8777B48D-7BF2-470D-876B-50CD5CC83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F4020B-BD58-413B-9283-2C8C1ABAB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85799"/>
            <a:ext cx="4781147" cy="2971801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4800" dirty="0"/>
              <a:t>Thank you !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E0AEC80-8115-4F41-B41A-43D500026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705" r="20961" b="-1"/>
          <a:stretch/>
        </p:blipFill>
        <p:spPr>
          <a:xfrm>
            <a:off x="6096000" y="10"/>
            <a:ext cx="6095999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83DA8283-3FF4-47B3-9266-60768C743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93200" y="8468"/>
            <a:ext cx="5795625" cy="5874808"/>
            <a:chOff x="6108170" y="8467"/>
            <a:chExt cx="6080656" cy="6163733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DEB65FF-EAD9-4242-80AE-A3FC7EB1EB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8228012" y="8467"/>
              <a:ext cx="3810000" cy="3810000"/>
            </a:xfrm>
            <a:prstGeom prst="line">
              <a:avLst/>
            </a:prstGeom>
            <a:ln w="1270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78B5500-48F2-41FA-BD8C-3C2400F620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108170" y="91545"/>
              <a:ext cx="6080655" cy="6080655"/>
            </a:xfrm>
            <a:prstGeom prst="line">
              <a:avLst/>
            </a:prstGeom>
            <a:ln w="1270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47B2E66-9934-4251-A5B0-A180C0CC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235825" y="228600"/>
              <a:ext cx="4953000" cy="4953000"/>
            </a:xfrm>
            <a:prstGeom prst="line">
              <a:avLst/>
            </a:prstGeom>
            <a:ln w="1270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DA1666-64EC-4838-B0E1-4D545ECEA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335837" y="32278"/>
              <a:ext cx="4852989" cy="4852989"/>
            </a:xfrm>
            <a:prstGeom prst="line">
              <a:avLst/>
            </a:prstGeom>
            <a:ln w="3175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CC99E35-6C12-4F89-8CDA-9FD8B3CEE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845426" y="609601"/>
              <a:ext cx="4343399" cy="4343399"/>
            </a:xfrm>
            <a:prstGeom prst="line">
              <a:avLst/>
            </a:prstGeom>
            <a:ln w="31750">
              <a:solidFill>
                <a:srgbClr val="FFFFFF">
                  <a:alpha val="8117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50C30EA-12B7-6FC7-4CB3-84E586776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1237" y="5667702"/>
            <a:ext cx="1187588" cy="119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210118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0B8EF33-82AA-4779-AFAA-C56669D00D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FDEB4C-941C-4EBE-9462-062D8A0ADE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B414F3-C833-4395-8C69-0E806C51817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 design</Template>
  <TotalTime>774</TotalTime>
  <Words>254</Words>
  <Application>Microsoft Office PowerPoint</Application>
  <PresentationFormat>Widescreen</PresentationFormat>
  <Paragraphs>52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 Narrow</vt:lpstr>
      <vt:lpstr>Calibri</vt:lpstr>
      <vt:lpstr>Century Gothic</vt:lpstr>
      <vt:lpstr>Wingdings</vt:lpstr>
      <vt:lpstr>Wingdings 3</vt:lpstr>
      <vt:lpstr>Slice</vt:lpstr>
      <vt:lpstr>Virtual machine scale sets</vt:lpstr>
      <vt:lpstr>agenda</vt:lpstr>
      <vt:lpstr>definition</vt:lpstr>
      <vt:lpstr>Application of vms</vt:lpstr>
      <vt:lpstr>Architecture</vt:lpstr>
      <vt:lpstr>Benefits</vt:lpstr>
      <vt:lpstr>Demonstration  VMSS Creation Create a rule to automatically scale out Create a rule to automatically scale in Define auto scale instance limits Monitor number of instances in a scale set Auto scale based on a schedule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Sundaresan D</dc:creator>
  <cp:lastModifiedBy>Sundar Doraiswami</cp:lastModifiedBy>
  <cp:revision>47</cp:revision>
  <dcterms:created xsi:type="dcterms:W3CDTF">2024-09-14T10:47:26Z</dcterms:created>
  <dcterms:modified xsi:type="dcterms:W3CDTF">2025-09-12T18:23:29Z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